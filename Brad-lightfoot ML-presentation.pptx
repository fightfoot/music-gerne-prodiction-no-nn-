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15"/>
  </p:notesMasterIdLst>
  <p:sldIdLst>
    <p:sldId id="256" r:id="rId5"/>
    <p:sldId id="258" r:id="rId6"/>
    <p:sldId id="259" r:id="rId7"/>
    <p:sldId id="257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36" autoAdjust="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41CE7B-9AFA-4478-BA68-78A7BDF103B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8BB447-B7D3-4C6D-9396-026CFF8E542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Classify music using genre</a:t>
          </a:r>
          <a:endParaRPr lang="en-US"/>
        </a:p>
      </dgm:t>
    </dgm:pt>
    <dgm:pt modelId="{67A59555-7B0C-4A24-AA70-0A7714E86F4E}" type="parTrans" cxnId="{D0500F6B-92C0-47E3-8CC8-7E56A0F84627}">
      <dgm:prSet/>
      <dgm:spPr/>
      <dgm:t>
        <a:bodyPr/>
        <a:lstStyle/>
        <a:p>
          <a:endParaRPr lang="en-US"/>
        </a:p>
      </dgm:t>
    </dgm:pt>
    <dgm:pt modelId="{7FC42762-BD4A-48B7-B872-827614D6F564}" type="sibTrans" cxnId="{D0500F6B-92C0-47E3-8CC8-7E56A0F84627}">
      <dgm:prSet/>
      <dgm:spPr/>
      <dgm:t>
        <a:bodyPr/>
        <a:lstStyle/>
        <a:p>
          <a:endParaRPr lang="en-US"/>
        </a:p>
      </dgm:t>
    </dgm:pt>
    <dgm:pt modelId="{93109045-B207-492D-B938-2DE6B6C95CF2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Use a machine learning model trained on metadata</a:t>
          </a:r>
          <a:endParaRPr lang="en-US"/>
        </a:p>
      </dgm:t>
    </dgm:pt>
    <dgm:pt modelId="{40D46020-48E5-415E-84AC-EFE88B7D3BAE}" type="parTrans" cxnId="{F104E4AC-3A34-4EFE-BB35-864E20A4F11B}">
      <dgm:prSet/>
      <dgm:spPr/>
      <dgm:t>
        <a:bodyPr/>
        <a:lstStyle/>
        <a:p>
          <a:endParaRPr lang="en-US"/>
        </a:p>
      </dgm:t>
    </dgm:pt>
    <dgm:pt modelId="{3B6A536B-59A9-4EF6-A0FB-4D48144D3BA5}" type="sibTrans" cxnId="{F104E4AC-3A34-4EFE-BB35-864E20A4F11B}">
      <dgm:prSet/>
      <dgm:spPr/>
      <dgm:t>
        <a:bodyPr/>
        <a:lstStyle/>
        <a:p>
          <a:endParaRPr lang="en-US"/>
        </a:p>
      </dgm:t>
    </dgm:pt>
    <dgm:pt modelId="{A07A5E11-7C1B-4066-9CB8-664D8F0C112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 60% accuracy was achieved</a:t>
          </a:r>
          <a:endParaRPr lang="en-US"/>
        </a:p>
      </dgm:t>
    </dgm:pt>
    <dgm:pt modelId="{F8638180-2AA5-4CDC-8F7D-711F63EED52E}" type="parTrans" cxnId="{68F253C2-2A81-4E8C-B7D4-E4ADB3E312C6}">
      <dgm:prSet/>
      <dgm:spPr/>
      <dgm:t>
        <a:bodyPr/>
        <a:lstStyle/>
        <a:p>
          <a:endParaRPr lang="en-US"/>
        </a:p>
      </dgm:t>
    </dgm:pt>
    <dgm:pt modelId="{7474322B-BCD5-4F52-A459-A78495226A7B}" type="sibTrans" cxnId="{68F253C2-2A81-4E8C-B7D4-E4ADB3E312C6}">
      <dgm:prSet/>
      <dgm:spPr/>
      <dgm:t>
        <a:bodyPr/>
        <a:lstStyle/>
        <a:p>
          <a:endParaRPr lang="en-US"/>
        </a:p>
      </dgm:t>
    </dgm:pt>
    <dgm:pt modelId="{A7683362-E8AC-4987-85E3-920CF37F4177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Don’t try this at home- I did it, so you don’t have to</a:t>
          </a:r>
          <a:endParaRPr lang="en-US"/>
        </a:p>
      </dgm:t>
    </dgm:pt>
    <dgm:pt modelId="{A20C03E4-0AF2-4DB1-8123-FA132190DF79}" type="parTrans" cxnId="{A4767445-26C9-4BEF-9EDA-314285988E55}">
      <dgm:prSet/>
      <dgm:spPr/>
      <dgm:t>
        <a:bodyPr/>
        <a:lstStyle/>
        <a:p>
          <a:endParaRPr lang="en-US"/>
        </a:p>
      </dgm:t>
    </dgm:pt>
    <dgm:pt modelId="{16960D04-5589-4B46-8AD4-9D0A503AA425}" type="sibTrans" cxnId="{A4767445-26C9-4BEF-9EDA-314285988E55}">
      <dgm:prSet/>
      <dgm:spPr/>
      <dgm:t>
        <a:bodyPr/>
        <a:lstStyle/>
        <a:p>
          <a:endParaRPr lang="en-US"/>
        </a:p>
      </dgm:t>
    </dgm:pt>
    <dgm:pt modelId="{78D283D6-2B4A-4692-9103-A9209377FE6B}" type="pres">
      <dgm:prSet presAssocID="{4441CE7B-9AFA-4478-BA68-78A7BDF103B2}" presName="root" presStyleCnt="0">
        <dgm:presLayoutVars>
          <dgm:dir/>
          <dgm:resizeHandles val="exact"/>
        </dgm:presLayoutVars>
      </dgm:prSet>
      <dgm:spPr/>
    </dgm:pt>
    <dgm:pt modelId="{913ACB93-48BC-4427-8319-5162EFAC97F8}" type="pres">
      <dgm:prSet presAssocID="{038BB447-B7D3-4C6D-9396-026CFF8E542E}" presName="compNode" presStyleCnt="0"/>
      <dgm:spPr/>
    </dgm:pt>
    <dgm:pt modelId="{85F265DE-BF6B-4F2B-8220-0A8009520A5A}" type="pres">
      <dgm:prSet presAssocID="{038BB447-B7D3-4C6D-9396-026CFF8E542E}" presName="bgRect" presStyleLbl="bgShp" presStyleIdx="0" presStyleCnt="4"/>
      <dgm:spPr/>
    </dgm:pt>
    <dgm:pt modelId="{CD8B87BC-C904-435E-BDD1-8944DB6CEA42}" type="pres">
      <dgm:prSet presAssocID="{038BB447-B7D3-4C6D-9396-026CFF8E542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usic"/>
        </a:ext>
      </dgm:extLst>
    </dgm:pt>
    <dgm:pt modelId="{594F48E6-DC12-45D8-993A-6BF7FA86998F}" type="pres">
      <dgm:prSet presAssocID="{038BB447-B7D3-4C6D-9396-026CFF8E542E}" presName="spaceRect" presStyleCnt="0"/>
      <dgm:spPr/>
    </dgm:pt>
    <dgm:pt modelId="{7EB4E415-64CE-41DC-802F-1D1A3AFC2516}" type="pres">
      <dgm:prSet presAssocID="{038BB447-B7D3-4C6D-9396-026CFF8E542E}" presName="parTx" presStyleLbl="revTx" presStyleIdx="0" presStyleCnt="4">
        <dgm:presLayoutVars>
          <dgm:chMax val="0"/>
          <dgm:chPref val="0"/>
        </dgm:presLayoutVars>
      </dgm:prSet>
      <dgm:spPr/>
    </dgm:pt>
    <dgm:pt modelId="{B01CFA9F-29A7-4645-8B06-329E6110218B}" type="pres">
      <dgm:prSet presAssocID="{7FC42762-BD4A-48B7-B872-827614D6F564}" presName="sibTrans" presStyleCnt="0"/>
      <dgm:spPr/>
    </dgm:pt>
    <dgm:pt modelId="{4D2A8FEF-8743-4BD0-BE89-280AF22A270B}" type="pres">
      <dgm:prSet presAssocID="{93109045-B207-492D-B938-2DE6B6C95CF2}" presName="compNode" presStyleCnt="0"/>
      <dgm:spPr/>
    </dgm:pt>
    <dgm:pt modelId="{E832E4EF-5746-4ABC-B778-02D97D2C874A}" type="pres">
      <dgm:prSet presAssocID="{93109045-B207-492D-B938-2DE6B6C95CF2}" presName="bgRect" presStyleLbl="bgShp" presStyleIdx="1" presStyleCnt="4"/>
      <dgm:spPr/>
    </dgm:pt>
    <dgm:pt modelId="{E293C1B3-06C3-4C3F-8491-C780CB15DF5B}" type="pres">
      <dgm:prSet presAssocID="{93109045-B207-492D-B938-2DE6B6C95CF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775D704-F237-4590-8698-C2250A892CEA}" type="pres">
      <dgm:prSet presAssocID="{93109045-B207-492D-B938-2DE6B6C95CF2}" presName="spaceRect" presStyleCnt="0"/>
      <dgm:spPr/>
    </dgm:pt>
    <dgm:pt modelId="{F4D0CDF2-1649-4EB0-B528-B1C5DB791C63}" type="pres">
      <dgm:prSet presAssocID="{93109045-B207-492D-B938-2DE6B6C95CF2}" presName="parTx" presStyleLbl="revTx" presStyleIdx="1" presStyleCnt="4">
        <dgm:presLayoutVars>
          <dgm:chMax val="0"/>
          <dgm:chPref val="0"/>
        </dgm:presLayoutVars>
      </dgm:prSet>
      <dgm:spPr/>
    </dgm:pt>
    <dgm:pt modelId="{C0DAA530-F4FE-4F88-88E9-D5923F3E7439}" type="pres">
      <dgm:prSet presAssocID="{3B6A536B-59A9-4EF6-A0FB-4D48144D3BA5}" presName="sibTrans" presStyleCnt="0"/>
      <dgm:spPr/>
    </dgm:pt>
    <dgm:pt modelId="{9333D8A3-3433-47F6-A58E-51D75FF2C74A}" type="pres">
      <dgm:prSet presAssocID="{A07A5E11-7C1B-4066-9CB8-664D8F0C112B}" presName="compNode" presStyleCnt="0"/>
      <dgm:spPr/>
    </dgm:pt>
    <dgm:pt modelId="{29053281-C042-4721-8D30-9E66E4B821C8}" type="pres">
      <dgm:prSet presAssocID="{A07A5E11-7C1B-4066-9CB8-664D8F0C112B}" presName="bgRect" presStyleLbl="bgShp" presStyleIdx="2" presStyleCnt="4"/>
      <dgm:spPr/>
    </dgm:pt>
    <dgm:pt modelId="{E45C0887-3130-49C4-A3F4-9E977782FD5A}" type="pres">
      <dgm:prSet presAssocID="{A07A5E11-7C1B-4066-9CB8-664D8F0C112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771BA4C4-5443-4257-8E32-E5ED1EF3DFE7}" type="pres">
      <dgm:prSet presAssocID="{A07A5E11-7C1B-4066-9CB8-664D8F0C112B}" presName="spaceRect" presStyleCnt="0"/>
      <dgm:spPr/>
    </dgm:pt>
    <dgm:pt modelId="{DE795F7F-75C2-47A7-B0FD-E9F25EED852B}" type="pres">
      <dgm:prSet presAssocID="{A07A5E11-7C1B-4066-9CB8-664D8F0C112B}" presName="parTx" presStyleLbl="revTx" presStyleIdx="2" presStyleCnt="4">
        <dgm:presLayoutVars>
          <dgm:chMax val="0"/>
          <dgm:chPref val="0"/>
        </dgm:presLayoutVars>
      </dgm:prSet>
      <dgm:spPr/>
    </dgm:pt>
    <dgm:pt modelId="{E87A788F-61D1-46E7-85EF-D38AC771E1D2}" type="pres">
      <dgm:prSet presAssocID="{7474322B-BCD5-4F52-A459-A78495226A7B}" presName="sibTrans" presStyleCnt="0"/>
      <dgm:spPr/>
    </dgm:pt>
    <dgm:pt modelId="{92FCD0A2-90FE-4A89-AF57-7040D37D0A2B}" type="pres">
      <dgm:prSet presAssocID="{A7683362-E8AC-4987-85E3-920CF37F4177}" presName="compNode" presStyleCnt="0"/>
      <dgm:spPr/>
    </dgm:pt>
    <dgm:pt modelId="{20885888-6F6C-465C-B77A-82D981F70187}" type="pres">
      <dgm:prSet presAssocID="{A7683362-E8AC-4987-85E3-920CF37F4177}" presName="bgRect" presStyleLbl="bgShp" presStyleIdx="3" presStyleCnt="4"/>
      <dgm:spPr/>
    </dgm:pt>
    <dgm:pt modelId="{03F6404D-128C-4DBB-AD32-115645F3C03A}" type="pres">
      <dgm:prSet presAssocID="{A7683362-E8AC-4987-85E3-920CF37F41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DEA98B9D-27DE-46A4-9AEC-580606D02837}" type="pres">
      <dgm:prSet presAssocID="{A7683362-E8AC-4987-85E3-920CF37F4177}" presName="spaceRect" presStyleCnt="0"/>
      <dgm:spPr/>
    </dgm:pt>
    <dgm:pt modelId="{B4BE97FF-63C7-499C-87BE-7F2A68B5368D}" type="pres">
      <dgm:prSet presAssocID="{A7683362-E8AC-4987-85E3-920CF37F41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C544460-F32C-41F4-B001-1BABE477862B}" type="presOf" srcId="{A7683362-E8AC-4987-85E3-920CF37F4177}" destId="{B4BE97FF-63C7-499C-87BE-7F2A68B5368D}" srcOrd="0" destOrd="0" presId="urn:microsoft.com/office/officeart/2018/2/layout/IconVerticalSolidList"/>
    <dgm:cxn modelId="{A4767445-26C9-4BEF-9EDA-314285988E55}" srcId="{4441CE7B-9AFA-4478-BA68-78A7BDF103B2}" destId="{A7683362-E8AC-4987-85E3-920CF37F4177}" srcOrd="3" destOrd="0" parTransId="{A20C03E4-0AF2-4DB1-8123-FA132190DF79}" sibTransId="{16960D04-5589-4B46-8AD4-9D0A503AA425}"/>
    <dgm:cxn modelId="{D0500F6B-92C0-47E3-8CC8-7E56A0F84627}" srcId="{4441CE7B-9AFA-4478-BA68-78A7BDF103B2}" destId="{038BB447-B7D3-4C6D-9396-026CFF8E542E}" srcOrd="0" destOrd="0" parTransId="{67A59555-7B0C-4A24-AA70-0A7714E86F4E}" sibTransId="{7FC42762-BD4A-48B7-B872-827614D6F564}"/>
    <dgm:cxn modelId="{336E8576-234A-4C1D-8A1E-DEF266DEF8F7}" type="presOf" srcId="{A07A5E11-7C1B-4066-9CB8-664D8F0C112B}" destId="{DE795F7F-75C2-47A7-B0FD-E9F25EED852B}" srcOrd="0" destOrd="0" presId="urn:microsoft.com/office/officeart/2018/2/layout/IconVerticalSolidList"/>
    <dgm:cxn modelId="{C31AE15A-DB15-4344-94DE-702E811B3DEB}" type="presOf" srcId="{4441CE7B-9AFA-4478-BA68-78A7BDF103B2}" destId="{78D283D6-2B4A-4692-9103-A9209377FE6B}" srcOrd="0" destOrd="0" presId="urn:microsoft.com/office/officeart/2018/2/layout/IconVerticalSolidList"/>
    <dgm:cxn modelId="{379841A6-D30A-4080-8225-227F3AD41F86}" type="presOf" srcId="{93109045-B207-492D-B938-2DE6B6C95CF2}" destId="{F4D0CDF2-1649-4EB0-B528-B1C5DB791C63}" srcOrd="0" destOrd="0" presId="urn:microsoft.com/office/officeart/2018/2/layout/IconVerticalSolidList"/>
    <dgm:cxn modelId="{F104E4AC-3A34-4EFE-BB35-864E20A4F11B}" srcId="{4441CE7B-9AFA-4478-BA68-78A7BDF103B2}" destId="{93109045-B207-492D-B938-2DE6B6C95CF2}" srcOrd="1" destOrd="0" parTransId="{40D46020-48E5-415E-84AC-EFE88B7D3BAE}" sibTransId="{3B6A536B-59A9-4EF6-A0FB-4D48144D3BA5}"/>
    <dgm:cxn modelId="{68F253C2-2A81-4E8C-B7D4-E4ADB3E312C6}" srcId="{4441CE7B-9AFA-4478-BA68-78A7BDF103B2}" destId="{A07A5E11-7C1B-4066-9CB8-664D8F0C112B}" srcOrd="2" destOrd="0" parTransId="{F8638180-2AA5-4CDC-8F7D-711F63EED52E}" sibTransId="{7474322B-BCD5-4F52-A459-A78495226A7B}"/>
    <dgm:cxn modelId="{C2C9C3C6-70D2-474C-AC7B-112E219AD399}" type="presOf" srcId="{038BB447-B7D3-4C6D-9396-026CFF8E542E}" destId="{7EB4E415-64CE-41DC-802F-1D1A3AFC2516}" srcOrd="0" destOrd="0" presId="urn:microsoft.com/office/officeart/2018/2/layout/IconVerticalSolidList"/>
    <dgm:cxn modelId="{CFA461C5-27AB-4DAC-9124-F75A273641E5}" type="presParOf" srcId="{78D283D6-2B4A-4692-9103-A9209377FE6B}" destId="{913ACB93-48BC-4427-8319-5162EFAC97F8}" srcOrd="0" destOrd="0" presId="urn:microsoft.com/office/officeart/2018/2/layout/IconVerticalSolidList"/>
    <dgm:cxn modelId="{EA55E0B4-A7BE-477C-8EB3-FEE57DBCC95E}" type="presParOf" srcId="{913ACB93-48BC-4427-8319-5162EFAC97F8}" destId="{85F265DE-BF6B-4F2B-8220-0A8009520A5A}" srcOrd="0" destOrd="0" presId="urn:microsoft.com/office/officeart/2018/2/layout/IconVerticalSolidList"/>
    <dgm:cxn modelId="{A522F972-A5BC-4566-9D10-767FEF607FBF}" type="presParOf" srcId="{913ACB93-48BC-4427-8319-5162EFAC97F8}" destId="{CD8B87BC-C904-435E-BDD1-8944DB6CEA42}" srcOrd="1" destOrd="0" presId="urn:microsoft.com/office/officeart/2018/2/layout/IconVerticalSolidList"/>
    <dgm:cxn modelId="{707A5F9D-19F6-42E3-9DA6-FA2EF1B9BE38}" type="presParOf" srcId="{913ACB93-48BC-4427-8319-5162EFAC97F8}" destId="{594F48E6-DC12-45D8-993A-6BF7FA86998F}" srcOrd="2" destOrd="0" presId="urn:microsoft.com/office/officeart/2018/2/layout/IconVerticalSolidList"/>
    <dgm:cxn modelId="{1957472F-B591-49B9-AEB6-DFBDD974FC79}" type="presParOf" srcId="{913ACB93-48BC-4427-8319-5162EFAC97F8}" destId="{7EB4E415-64CE-41DC-802F-1D1A3AFC2516}" srcOrd="3" destOrd="0" presId="urn:microsoft.com/office/officeart/2018/2/layout/IconVerticalSolidList"/>
    <dgm:cxn modelId="{75F7228A-0B8C-43BA-9961-0B3002937D81}" type="presParOf" srcId="{78D283D6-2B4A-4692-9103-A9209377FE6B}" destId="{B01CFA9F-29A7-4645-8B06-329E6110218B}" srcOrd="1" destOrd="0" presId="urn:microsoft.com/office/officeart/2018/2/layout/IconVerticalSolidList"/>
    <dgm:cxn modelId="{72B2FE68-8F08-48C6-8E64-5580825985C8}" type="presParOf" srcId="{78D283D6-2B4A-4692-9103-A9209377FE6B}" destId="{4D2A8FEF-8743-4BD0-BE89-280AF22A270B}" srcOrd="2" destOrd="0" presId="urn:microsoft.com/office/officeart/2018/2/layout/IconVerticalSolidList"/>
    <dgm:cxn modelId="{80A5B331-33B0-42E8-99A9-245448AA1C4C}" type="presParOf" srcId="{4D2A8FEF-8743-4BD0-BE89-280AF22A270B}" destId="{E832E4EF-5746-4ABC-B778-02D97D2C874A}" srcOrd="0" destOrd="0" presId="urn:microsoft.com/office/officeart/2018/2/layout/IconVerticalSolidList"/>
    <dgm:cxn modelId="{E6A61C72-8097-4B1E-B9B4-70D71BF22A6E}" type="presParOf" srcId="{4D2A8FEF-8743-4BD0-BE89-280AF22A270B}" destId="{E293C1B3-06C3-4C3F-8491-C780CB15DF5B}" srcOrd="1" destOrd="0" presId="urn:microsoft.com/office/officeart/2018/2/layout/IconVerticalSolidList"/>
    <dgm:cxn modelId="{396DCF30-0BAF-45C6-9393-782B090DECE4}" type="presParOf" srcId="{4D2A8FEF-8743-4BD0-BE89-280AF22A270B}" destId="{8775D704-F237-4590-8698-C2250A892CEA}" srcOrd="2" destOrd="0" presId="urn:microsoft.com/office/officeart/2018/2/layout/IconVerticalSolidList"/>
    <dgm:cxn modelId="{819EAE16-8C6D-4A59-8F3C-502A9EDA99B7}" type="presParOf" srcId="{4D2A8FEF-8743-4BD0-BE89-280AF22A270B}" destId="{F4D0CDF2-1649-4EB0-B528-B1C5DB791C63}" srcOrd="3" destOrd="0" presId="urn:microsoft.com/office/officeart/2018/2/layout/IconVerticalSolidList"/>
    <dgm:cxn modelId="{6771D7C8-E0DD-465B-9DDB-14ED3192C30E}" type="presParOf" srcId="{78D283D6-2B4A-4692-9103-A9209377FE6B}" destId="{C0DAA530-F4FE-4F88-88E9-D5923F3E7439}" srcOrd="3" destOrd="0" presId="urn:microsoft.com/office/officeart/2018/2/layout/IconVerticalSolidList"/>
    <dgm:cxn modelId="{504C6BAF-8DB7-4032-B0AE-C5D42C31DD5D}" type="presParOf" srcId="{78D283D6-2B4A-4692-9103-A9209377FE6B}" destId="{9333D8A3-3433-47F6-A58E-51D75FF2C74A}" srcOrd="4" destOrd="0" presId="urn:microsoft.com/office/officeart/2018/2/layout/IconVerticalSolidList"/>
    <dgm:cxn modelId="{35126751-EACA-470A-8A65-B24CDF37337B}" type="presParOf" srcId="{9333D8A3-3433-47F6-A58E-51D75FF2C74A}" destId="{29053281-C042-4721-8D30-9E66E4B821C8}" srcOrd="0" destOrd="0" presId="urn:microsoft.com/office/officeart/2018/2/layout/IconVerticalSolidList"/>
    <dgm:cxn modelId="{A90150D9-DBF2-44C4-B67C-43B1BC92E707}" type="presParOf" srcId="{9333D8A3-3433-47F6-A58E-51D75FF2C74A}" destId="{E45C0887-3130-49C4-A3F4-9E977782FD5A}" srcOrd="1" destOrd="0" presId="urn:microsoft.com/office/officeart/2018/2/layout/IconVerticalSolidList"/>
    <dgm:cxn modelId="{F2F26B57-FCDD-4707-BE91-0F3845EA0E26}" type="presParOf" srcId="{9333D8A3-3433-47F6-A58E-51D75FF2C74A}" destId="{771BA4C4-5443-4257-8E32-E5ED1EF3DFE7}" srcOrd="2" destOrd="0" presId="urn:microsoft.com/office/officeart/2018/2/layout/IconVerticalSolidList"/>
    <dgm:cxn modelId="{99CF6CA0-9CFA-450C-AD5B-68986BAD0D26}" type="presParOf" srcId="{9333D8A3-3433-47F6-A58E-51D75FF2C74A}" destId="{DE795F7F-75C2-47A7-B0FD-E9F25EED852B}" srcOrd="3" destOrd="0" presId="urn:microsoft.com/office/officeart/2018/2/layout/IconVerticalSolidList"/>
    <dgm:cxn modelId="{5D4DEDD7-9D8F-4259-8266-E8164414D6EE}" type="presParOf" srcId="{78D283D6-2B4A-4692-9103-A9209377FE6B}" destId="{E87A788F-61D1-46E7-85EF-D38AC771E1D2}" srcOrd="5" destOrd="0" presId="urn:microsoft.com/office/officeart/2018/2/layout/IconVerticalSolidList"/>
    <dgm:cxn modelId="{4450C0D5-3C13-4296-89E9-333EECD7EEF4}" type="presParOf" srcId="{78D283D6-2B4A-4692-9103-A9209377FE6B}" destId="{92FCD0A2-90FE-4A89-AF57-7040D37D0A2B}" srcOrd="6" destOrd="0" presId="urn:microsoft.com/office/officeart/2018/2/layout/IconVerticalSolidList"/>
    <dgm:cxn modelId="{DAFC9CD8-0E13-4E4A-B06F-F3843078A733}" type="presParOf" srcId="{92FCD0A2-90FE-4A89-AF57-7040D37D0A2B}" destId="{20885888-6F6C-465C-B77A-82D981F70187}" srcOrd="0" destOrd="0" presId="urn:microsoft.com/office/officeart/2018/2/layout/IconVerticalSolidList"/>
    <dgm:cxn modelId="{34D38C89-DA64-4516-BC68-60707B5DF95C}" type="presParOf" srcId="{92FCD0A2-90FE-4A89-AF57-7040D37D0A2B}" destId="{03F6404D-128C-4DBB-AD32-115645F3C03A}" srcOrd="1" destOrd="0" presId="urn:microsoft.com/office/officeart/2018/2/layout/IconVerticalSolidList"/>
    <dgm:cxn modelId="{31A280F0-5713-4501-B258-C3C117C1B14C}" type="presParOf" srcId="{92FCD0A2-90FE-4A89-AF57-7040D37D0A2B}" destId="{DEA98B9D-27DE-46A4-9AEC-580606D02837}" srcOrd="2" destOrd="0" presId="urn:microsoft.com/office/officeart/2018/2/layout/IconVerticalSolidList"/>
    <dgm:cxn modelId="{BFA39144-E904-48B3-A293-8415B6802D99}" type="presParOf" srcId="{92FCD0A2-90FE-4A89-AF57-7040D37D0A2B}" destId="{B4BE97FF-63C7-499C-87BE-7F2A68B536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F265DE-BF6B-4F2B-8220-0A8009520A5A}">
      <dsp:nvSpPr>
        <dsp:cNvPr id="0" name=""/>
        <dsp:cNvSpPr/>
      </dsp:nvSpPr>
      <dsp:spPr>
        <a:xfrm>
          <a:off x="0" y="1480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B87BC-C904-435E-BDD1-8944DB6CEA42}">
      <dsp:nvSpPr>
        <dsp:cNvPr id="0" name=""/>
        <dsp:cNvSpPr/>
      </dsp:nvSpPr>
      <dsp:spPr>
        <a:xfrm>
          <a:off x="226919" y="170263"/>
          <a:ext cx="412581" cy="41258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B4E415-64CE-41DC-802F-1D1A3AFC2516}">
      <dsp:nvSpPr>
        <dsp:cNvPr id="0" name=""/>
        <dsp:cNvSpPr/>
      </dsp:nvSpPr>
      <dsp:spPr>
        <a:xfrm>
          <a:off x="866420" y="1480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Classify music using genre</a:t>
          </a:r>
          <a:endParaRPr lang="en-US" sz="2200" kern="1200"/>
        </a:p>
      </dsp:txBody>
      <dsp:txXfrm>
        <a:off x="866420" y="1480"/>
        <a:ext cx="10024507" cy="750147"/>
      </dsp:txXfrm>
    </dsp:sp>
    <dsp:sp modelId="{E832E4EF-5746-4ABC-B778-02D97D2C874A}">
      <dsp:nvSpPr>
        <dsp:cNvPr id="0" name=""/>
        <dsp:cNvSpPr/>
      </dsp:nvSpPr>
      <dsp:spPr>
        <a:xfrm>
          <a:off x="0" y="939164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93C1B3-06C3-4C3F-8491-C780CB15DF5B}">
      <dsp:nvSpPr>
        <dsp:cNvPr id="0" name=""/>
        <dsp:cNvSpPr/>
      </dsp:nvSpPr>
      <dsp:spPr>
        <a:xfrm>
          <a:off x="226919" y="1107947"/>
          <a:ext cx="412581" cy="41258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0CDF2-1649-4EB0-B528-B1C5DB791C63}">
      <dsp:nvSpPr>
        <dsp:cNvPr id="0" name=""/>
        <dsp:cNvSpPr/>
      </dsp:nvSpPr>
      <dsp:spPr>
        <a:xfrm>
          <a:off x="866420" y="939164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Use a machine learning model trained on metadata</a:t>
          </a:r>
          <a:endParaRPr lang="en-US" sz="2200" kern="1200"/>
        </a:p>
      </dsp:txBody>
      <dsp:txXfrm>
        <a:off x="866420" y="939164"/>
        <a:ext cx="10024507" cy="750147"/>
      </dsp:txXfrm>
    </dsp:sp>
    <dsp:sp modelId="{29053281-C042-4721-8D30-9E66E4B821C8}">
      <dsp:nvSpPr>
        <dsp:cNvPr id="0" name=""/>
        <dsp:cNvSpPr/>
      </dsp:nvSpPr>
      <dsp:spPr>
        <a:xfrm>
          <a:off x="0" y="1876848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C0887-3130-49C4-A3F4-9E977782FD5A}">
      <dsp:nvSpPr>
        <dsp:cNvPr id="0" name=""/>
        <dsp:cNvSpPr/>
      </dsp:nvSpPr>
      <dsp:spPr>
        <a:xfrm>
          <a:off x="226919" y="2045631"/>
          <a:ext cx="412581" cy="41258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795F7F-75C2-47A7-B0FD-E9F25EED852B}">
      <dsp:nvSpPr>
        <dsp:cNvPr id="0" name=""/>
        <dsp:cNvSpPr/>
      </dsp:nvSpPr>
      <dsp:spPr>
        <a:xfrm>
          <a:off x="866420" y="1876848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 60% accuracy was achieved</a:t>
          </a:r>
          <a:endParaRPr lang="en-US" sz="2200" kern="1200"/>
        </a:p>
      </dsp:txBody>
      <dsp:txXfrm>
        <a:off x="866420" y="1876848"/>
        <a:ext cx="10024507" cy="750147"/>
      </dsp:txXfrm>
    </dsp:sp>
    <dsp:sp modelId="{20885888-6F6C-465C-B77A-82D981F70187}">
      <dsp:nvSpPr>
        <dsp:cNvPr id="0" name=""/>
        <dsp:cNvSpPr/>
      </dsp:nvSpPr>
      <dsp:spPr>
        <a:xfrm>
          <a:off x="0" y="2814532"/>
          <a:ext cx="10890928" cy="75014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F6404D-128C-4DBB-AD32-115645F3C03A}">
      <dsp:nvSpPr>
        <dsp:cNvPr id="0" name=""/>
        <dsp:cNvSpPr/>
      </dsp:nvSpPr>
      <dsp:spPr>
        <a:xfrm>
          <a:off x="226919" y="2983315"/>
          <a:ext cx="412581" cy="41258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E97FF-63C7-499C-87BE-7F2A68B5368D}">
      <dsp:nvSpPr>
        <dsp:cNvPr id="0" name=""/>
        <dsp:cNvSpPr/>
      </dsp:nvSpPr>
      <dsp:spPr>
        <a:xfrm>
          <a:off x="866420" y="2814532"/>
          <a:ext cx="10024507" cy="750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9391" tIns="79391" rIns="79391" bIns="79391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Don’t try this at home- I did it, so you don’t have to</a:t>
          </a:r>
          <a:endParaRPr lang="en-US" sz="2200" kern="1200"/>
        </a:p>
      </dsp:txBody>
      <dsp:txXfrm>
        <a:off x="866420" y="2814532"/>
        <a:ext cx="10024507" cy="750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783E14-87ED-45C0-A116-41AC72A97504}" type="datetimeFigureOut">
              <a:rPr lang="en-GB" smtClean="0"/>
              <a:t>02/06/2025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C8A45-F295-49A2-B074-529CD66574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90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schemeClr val="bg1"/>
                </a:solidFill>
              </a:rPr>
              <a:t>Train: 80% Stratified (106,935 songs)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Test: 20% Stratified (26,741 songs)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Accuracy: 59.8%, Precision: 41.5%</a:t>
            </a:r>
            <a:br>
              <a:rPr lang="en-GB" dirty="0"/>
            </a:br>
            <a:r>
              <a:rPr lang="en-GB" dirty="0"/>
              <a:t>F1 Score: 0.46</a:t>
            </a:r>
            <a:endParaRPr lang="en-US" dirty="0"/>
          </a:p>
          <a:p>
            <a:endParaRPr lang="en-GB" dirty="0"/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Train: 9% (1000 songs/genre -vocal)</a:t>
            </a:r>
            <a:br>
              <a:rPr lang="en-GB" dirty="0"/>
            </a:br>
            <a:r>
              <a:rPr lang="en-GB" dirty="0"/>
              <a:t>Test: Leftover 91% (121,473 songs)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Accuracy: 12.4%, Precision: 56.7%</a:t>
            </a:r>
            <a:br>
              <a:rPr lang="en-GB" dirty="0"/>
            </a:br>
            <a:r>
              <a:rPr lang="en-GB" dirty="0"/>
              <a:t>F1 Score: 0.14</a:t>
            </a: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8A45-F295-49A2-B074-529CD665741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431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Convolution neural network, using </a:t>
            </a:r>
            <a:r>
              <a:rPr lang="en-GB" dirty="0" err="1"/>
              <a:t>spectograms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5C8A45-F295-49A2-B074-529CD665741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350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08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56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46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8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1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1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8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59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021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2646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37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3195EA-1773-AA88-BD13-9A8B14C8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43"/>
          <a:stretch>
            <a:fillRect/>
          </a:stretch>
        </p:blipFill>
        <p:spPr>
          <a:xfrm>
            <a:off x="1" y="10"/>
            <a:ext cx="12192000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30DD7D3-2712-4491-B2C2-5FC23330C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3569" y="1066800"/>
            <a:ext cx="5128322" cy="4724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BDEF05-9432-C991-742D-F679B24AF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737" y="1562101"/>
            <a:ext cx="4359744" cy="2738530"/>
          </a:xfrm>
        </p:spPr>
        <p:txBody>
          <a:bodyPr anchor="t">
            <a:normAutofit/>
          </a:bodyPr>
          <a:lstStyle/>
          <a:p>
            <a:r>
              <a:rPr lang="en-GB" sz="3200" dirty="0"/>
              <a:t>From Metadata to Music Genres: A Machine Learning 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4CA85-7BC9-E7FA-8CA9-A446A82ED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273" y="4300631"/>
            <a:ext cx="4358208" cy="933760"/>
          </a:xfrm>
        </p:spPr>
        <p:txBody>
          <a:bodyPr>
            <a:normAutofit/>
          </a:bodyPr>
          <a:lstStyle/>
          <a:p>
            <a:r>
              <a:rPr lang="en-GB" dirty="0"/>
              <a:t>By Brad Lightfoot</a:t>
            </a:r>
          </a:p>
          <a:p>
            <a:r>
              <a:rPr lang="en-GB" dirty="0"/>
              <a:t>Supervised by ed </a:t>
            </a:r>
            <a:r>
              <a:rPr lang="en-GB" dirty="0" err="1"/>
              <a:t>mccann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D0734C-004D-4938-8EA0-2C3867A11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37" y="5780876"/>
            <a:ext cx="5131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86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EC8228-0BCF-0FA3-205A-7A5EAF91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6821" y="1371600"/>
            <a:ext cx="6034187" cy="1097280"/>
          </a:xfrm>
        </p:spPr>
        <p:txBody>
          <a:bodyPr>
            <a:normAutofit/>
          </a:bodyPr>
          <a:lstStyle/>
          <a:p>
            <a:r>
              <a:rPr lang="en-GB" dirty="0"/>
              <a:t>Machine Learning </a:t>
            </a:r>
          </a:p>
        </p:txBody>
      </p:sp>
      <p:pic>
        <p:nvPicPr>
          <p:cNvPr id="6" name="Picture 5" descr="A robot playing a piano&#10;&#10;AI-generated content may be incorrect.">
            <a:extLst>
              <a:ext uri="{FF2B5EF4-FFF2-40B4-BE49-F238E27FC236}">
                <a16:creationId xmlns:a16="http://schemas.microsoft.com/office/drawing/2014/main" id="{4768DF6D-E466-C6D7-2C4D-22B9040A5D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06" r="33130" b="-1"/>
          <a:stretch>
            <a:fillRect/>
          </a:stretch>
        </p:blipFill>
        <p:spPr>
          <a:xfrm>
            <a:off x="20" y="10"/>
            <a:ext cx="4857871" cy="685799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91422F5-4221-4812-AFD9-5479C6D60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80905" y="1031005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412F795-3124-2695-85A6-6F7BF1352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96821" y="2633236"/>
            <a:ext cx="6034187" cy="3664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ML enables computers to find patterns and make decisions without being explicitly programmed.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Instead of giving step-by-step instructions, we show examples and let the machine figure it out.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The more data it sees, the smarter it gets.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Powered by clever math, not magic</a:t>
            </a:r>
          </a:p>
        </p:txBody>
      </p:sp>
    </p:spTree>
    <p:extLst>
      <p:ext uri="{BB962C8B-B14F-4D97-AF65-F5344CB8AC3E}">
        <p14:creationId xmlns:p14="http://schemas.microsoft.com/office/powerpoint/2010/main" val="88049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D357C-4906-EF67-909C-7904C7AC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197864"/>
            <a:ext cx="10890929" cy="1097280"/>
          </a:xfrm>
        </p:spPr>
        <p:txBody>
          <a:bodyPr/>
          <a:lstStyle/>
          <a:p>
            <a:r>
              <a:rPr lang="en-GB" dirty="0"/>
              <a:t>The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E4BED6-9D90-7106-D080-2CB7B03B9D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0079" y="2093976"/>
          <a:ext cx="10890928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524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8187A-A8BE-A66A-6864-A33DA0FA8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en-GB" dirty="0"/>
              <a:t>Why Genre Prediction Matters</a:t>
            </a:r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F55B7EC6-32DE-AE50-A4CD-A8973A1D9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03C4D-6EA0-F02E-5958-783B85D92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en-GB" dirty="0"/>
              <a:t>To bridge music and technology</a:t>
            </a:r>
          </a:p>
          <a:p>
            <a:r>
              <a:rPr lang="en-GB" dirty="0"/>
              <a:t>Lay foundation for advanced audio analysis</a:t>
            </a:r>
          </a:p>
          <a:p>
            <a:r>
              <a:rPr lang="en-GB" dirty="0"/>
              <a:t>Find an answer to “Can machines listen to music?”</a:t>
            </a:r>
          </a:p>
          <a:p>
            <a:r>
              <a:rPr lang="en-GB" dirty="0"/>
              <a:t>Machine learning could be a stepping stone into the future</a:t>
            </a:r>
          </a:p>
          <a:p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18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DF26-9123-D53B-8862-4933A972E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data</a:t>
            </a:r>
          </a:p>
        </p:txBody>
      </p:sp>
      <p:pic>
        <p:nvPicPr>
          <p:cNvPr id="5" name="Content Placeholder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EFEBC4F8-23A9-8044-B1B2-C425E6D8B7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201" y="2052638"/>
            <a:ext cx="4225807" cy="35655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02C57E-911E-45D9-6F88-CDF0D350A97D}"/>
              </a:ext>
            </a:extLst>
          </p:cNvPr>
          <p:cNvSpPr txBox="1"/>
          <p:nvPr/>
        </p:nvSpPr>
        <p:spPr>
          <a:xfrm>
            <a:off x="723900" y="2171700"/>
            <a:ext cx="599122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Million songs metadata (MSD)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/>
              <a:t>Tagtraum</a:t>
            </a:r>
            <a:r>
              <a:rPr lang="en-GB" sz="2000" dirty="0"/>
              <a:t>- statistical split (130,000 tracks)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Features: duration, tempo, key, mode, loudness, time signature, year of release, word count of artist name and word count in song title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13 genres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A4E79-4357-BE6D-CFB9-F114A1BA6EDE}"/>
              </a:ext>
            </a:extLst>
          </p:cNvPr>
          <p:cNvSpPr txBox="1"/>
          <p:nvPr/>
        </p:nvSpPr>
        <p:spPr>
          <a:xfrm>
            <a:off x="720615" y="4070627"/>
            <a:ext cx="6289548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latin typeface="+mj-lt"/>
              </a:rPr>
              <a:t>Challenges with the 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Combining both data 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should it be split for training and testing?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Data imbalance</a:t>
            </a:r>
          </a:p>
        </p:txBody>
      </p:sp>
    </p:spTree>
    <p:extLst>
      <p:ext uri="{BB962C8B-B14F-4D97-AF65-F5344CB8AC3E}">
        <p14:creationId xmlns:p14="http://schemas.microsoft.com/office/powerpoint/2010/main" val="247736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F4A223-82F0-0BFA-517D-8E13B2FE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GB" dirty="0"/>
              <a:t>Which algorithm to use?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ontent Placeholder 12">
            <a:extLst>
              <a:ext uri="{FF2B5EF4-FFF2-40B4-BE49-F238E27FC236}">
                <a16:creationId xmlns:a16="http://schemas.microsoft.com/office/drawing/2014/main" id="{4A8F6CB4-B04E-F591-7C1F-ECE094D41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5078253"/>
              </p:ext>
            </p:extLst>
          </p:nvPr>
        </p:nvGraphicFramePr>
        <p:xfrm>
          <a:off x="914400" y="2705410"/>
          <a:ext cx="10363200" cy="34946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836">
                  <a:extLst>
                    <a:ext uri="{9D8B030D-6E8A-4147-A177-3AD203B41FA5}">
                      <a16:colId xmlns:a16="http://schemas.microsoft.com/office/drawing/2014/main" val="352972724"/>
                    </a:ext>
                  </a:extLst>
                </a:gridCol>
                <a:gridCol w="3755182">
                  <a:extLst>
                    <a:ext uri="{9D8B030D-6E8A-4147-A177-3AD203B41FA5}">
                      <a16:colId xmlns:a16="http://schemas.microsoft.com/office/drawing/2014/main" val="2657020347"/>
                    </a:ext>
                  </a:extLst>
                </a:gridCol>
                <a:gridCol w="3755182">
                  <a:extLst>
                    <a:ext uri="{9D8B030D-6E8A-4147-A177-3AD203B41FA5}">
                      <a16:colId xmlns:a16="http://schemas.microsoft.com/office/drawing/2014/main" val="1563092507"/>
                    </a:ext>
                  </a:extLst>
                </a:gridCol>
              </a:tblGrid>
              <a:tr h="471672">
                <a:tc>
                  <a:txBody>
                    <a:bodyPr/>
                    <a:lstStyle/>
                    <a:p>
                      <a:pPr algn="ctr"/>
                      <a:r>
                        <a:rPr lang="en-GB" sz="2100"/>
                        <a:t>Approaches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/>
                        <a:t>One vs Rest Binary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100"/>
                        <a:t>SoftMax Multiclass</a:t>
                      </a:r>
                    </a:p>
                  </a:txBody>
                  <a:tcPr marL="107198" marR="107198" marT="53599" marB="53599" anchor="ctr"/>
                </a:tc>
                <a:extLst>
                  <a:ext uri="{0D108BD9-81ED-4DB2-BD59-A6C34878D82A}">
                    <a16:rowId xmlns:a16="http://schemas.microsoft.com/office/drawing/2014/main" val="3271541870"/>
                  </a:ext>
                </a:extLst>
              </a:tr>
              <a:tr h="1114861">
                <a:tc>
                  <a:txBody>
                    <a:bodyPr/>
                    <a:lstStyle/>
                    <a:p>
                      <a:pPr algn="ctr"/>
                      <a:r>
                        <a:rPr lang="en-GB" sz="2100"/>
                        <a:t>What is it?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Calibri"/>
                        <a:buChar char="-"/>
                      </a:pPr>
                      <a:r>
                        <a:rPr lang="en-GB" sz="2100"/>
                        <a:t>Logistic regression developed for each class</a:t>
                      </a:r>
                    </a:p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Classify by probability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Calibri"/>
                        <a:buChar char="-"/>
                      </a:pPr>
                      <a:r>
                        <a:rPr lang="en-GB" sz="2100"/>
                        <a:t>Generalised extension of logistic regression</a:t>
                      </a:r>
                    </a:p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Normalise probabilities</a:t>
                      </a:r>
                    </a:p>
                  </a:txBody>
                  <a:tcPr marL="107198" marR="107198" marT="53599" marB="53599" anchor="ctr"/>
                </a:tc>
                <a:extLst>
                  <a:ext uri="{0D108BD9-81ED-4DB2-BD59-A6C34878D82A}">
                    <a16:rowId xmlns:a16="http://schemas.microsoft.com/office/drawing/2014/main" val="242823795"/>
                  </a:ext>
                </a:extLst>
              </a:tr>
              <a:tr h="111486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2100"/>
                        <a:t>Benefits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Independent probabilities</a:t>
                      </a:r>
                    </a:p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Less sensitive to class imbalance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A single model to classify all genres</a:t>
                      </a:r>
                    </a:p>
                    <a:p>
                      <a:pPr marL="285750" lvl="0" indent="-285750" algn="ctr">
                        <a:buFont typeface="Calibri"/>
                        <a:buChar char="-"/>
                      </a:pPr>
                      <a:r>
                        <a:rPr lang="en-GB" sz="2100"/>
                        <a:t>More efficient</a:t>
                      </a:r>
                    </a:p>
                  </a:txBody>
                  <a:tcPr marL="107198" marR="107198" marT="53599" marB="53599" anchor="ctr"/>
                </a:tc>
                <a:extLst>
                  <a:ext uri="{0D108BD9-81ED-4DB2-BD59-A6C34878D82A}">
                    <a16:rowId xmlns:a16="http://schemas.microsoft.com/office/drawing/2014/main" val="3235276277"/>
                  </a:ext>
                </a:extLst>
              </a:tr>
              <a:tr h="793267">
                <a:tc>
                  <a:txBody>
                    <a:bodyPr/>
                    <a:lstStyle/>
                    <a:p>
                      <a:pPr algn="ctr"/>
                      <a:r>
                        <a:rPr lang="en-GB" sz="2100"/>
                        <a:t>Drawbacks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Calibri"/>
                        <a:buChar char="-"/>
                      </a:pPr>
                      <a:r>
                        <a:rPr lang="en-GB" sz="2100"/>
                        <a:t>Requires training models for each class</a:t>
                      </a:r>
                    </a:p>
                  </a:txBody>
                  <a:tcPr marL="107198" marR="107198" marT="53599" marB="53599"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Calibri"/>
                        <a:buChar char="-"/>
                      </a:pPr>
                      <a:r>
                        <a:rPr lang="en-GB" sz="2100"/>
                        <a:t>Sensitive to class imbalance</a:t>
                      </a:r>
                    </a:p>
                  </a:txBody>
                  <a:tcPr marL="107198" marR="107198" marT="53599" marB="53599" anchor="ctr"/>
                </a:tc>
                <a:extLst>
                  <a:ext uri="{0D108BD9-81ED-4DB2-BD59-A6C34878D82A}">
                    <a16:rowId xmlns:a16="http://schemas.microsoft.com/office/drawing/2014/main" val="1046955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5300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29E27-09BB-9B8A-A2DB-3AFDACCA7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>
            <a:normAutofit/>
          </a:bodyPr>
          <a:lstStyle/>
          <a:p>
            <a:r>
              <a:rPr lang="en-GB" dirty="0"/>
              <a:t>The One vs Rest Model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E95D8-53FB-9C10-C67F-D11FD0F98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We chose the one vs rest Binary (</a:t>
            </a:r>
            <a:r>
              <a:rPr lang="en-GB" dirty="0" err="1"/>
              <a:t>OvR</a:t>
            </a:r>
            <a:r>
              <a:rPr lang="en-GB" dirty="0"/>
              <a:t>) approach</a:t>
            </a:r>
          </a:p>
          <a:p>
            <a:pPr>
              <a:lnSpc>
                <a:spcPct val="150000"/>
              </a:lnSpc>
            </a:pPr>
            <a:r>
              <a:rPr lang="en-GB" dirty="0"/>
              <a:t>Large data imbalance</a:t>
            </a:r>
          </a:p>
          <a:p>
            <a:pPr>
              <a:lnSpc>
                <a:spcPct val="150000"/>
              </a:lnSpc>
            </a:pPr>
            <a:r>
              <a:rPr lang="en-GB" dirty="0"/>
              <a:t>9-dimensional multiclass logistic regression</a:t>
            </a:r>
          </a:p>
          <a:p>
            <a:pPr>
              <a:lnSpc>
                <a:spcPct val="150000"/>
              </a:lnSpc>
            </a:pPr>
            <a:r>
              <a:rPr lang="en-GB" dirty="0"/>
              <a:t>13 genre classifications</a:t>
            </a:r>
          </a:p>
        </p:txBody>
      </p:sp>
      <p:pic>
        <p:nvPicPr>
          <p:cNvPr id="5" name="Content Placeholder 7" descr="A group of mathematical equations">
            <a:extLst>
              <a:ext uri="{FF2B5EF4-FFF2-40B4-BE49-F238E27FC236}">
                <a16:creationId xmlns:a16="http://schemas.microsoft.com/office/drawing/2014/main" id="{95495A7D-7BD7-7DEB-1476-40DE9D4AC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157" y="622561"/>
            <a:ext cx="4236162" cy="2658192"/>
          </a:xfrm>
          <a:prstGeom prst="rect">
            <a:avLst/>
          </a:prstGeom>
        </p:spPr>
      </p:pic>
      <p:pic>
        <p:nvPicPr>
          <p:cNvPr id="4" name="Picture 3" descr="undefined">
            <a:extLst>
              <a:ext uri="{FF2B5EF4-FFF2-40B4-BE49-F238E27FC236}">
                <a16:creationId xmlns:a16="http://schemas.microsoft.com/office/drawing/2014/main" id="{6B585B5F-5C81-5BD9-25B2-ECAC43E0A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781" y="3607283"/>
            <a:ext cx="4030914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54B642-EFD2-4588-F45B-B8DFBEFD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Modles Statistics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1F6A7C6-28A9-9B3F-ECEA-DCFE3AFFDF2E}"/>
              </a:ext>
            </a:extLst>
          </p:cNvPr>
          <p:cNvSpPr txBox="1"/>
          <p:nvPr/>
        </p:nvSpPr>
        <p:spPr>
          <a:xfrm>
            <a:off x="640079" y="2636205"/>
            <a:ext cx="5752095" cy="366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/>
              <a:t>Accuracy of 60% was achieved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/>
              <a:t>2 hours training time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/>
              <a:t>Some genres are never predicted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/>
              <a:t>predictions are dominated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sz="2000" dirty="0"/>
              <a:t>A second model using the same data with a different split was made (1000 of each genre)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1" name="Content Placeholder 8" descr="A chart with numbers and labels&#10;&#10;AI-generated content may be incorrect.">
            <a:extLst>
              <a:ext uri="{FF2B5EF4-FFF2-40B4-BE49-F238E27FC236}">
                <a16:creationId xmlns:a16="http://schemas.microsoft.com/office/drawing/2014/main" id="{8E18E25A-FAC3-A994-CC3B-B93E737E3C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643" y="3653342"/>
            <a:ext cx="3377127" cy="2980315"/>
          </a:xfrm>
          <a:prstGeom prst="rect">
            <a:avLst/>
          </a:prstGeom>
        </p:spPr>
      </p:pic>
      <p:pic>
        <p:nvPicPr>
          <p:cNvPr id="7" name="Content Placeholder 6" descr="A chart with numbers and labels&#10;&#10;AI-generated content may be incorrect.">
            <a:extLst>
              <a:ext uri="{FF2B5EF4-FFF2-40B4-BE49-F238E27FC236}">
                <a16:creationId xmlns:a16="http://schemas.microsoft.com/office/drawing/2014/main" id="{C9D08A1B-9091-C8D5-BE35-5A21D052F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5" r="1456" b="2"/>
          <a:stretch>
            <a:fillRect/>
          </a:stretch>
        </p:blipFill>
        <p:spPr>
          <a:xfrm>
            <a:off x="7816150" y="448680"/>
            <a:ext cx="3012115" cy="29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83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8BF68-03EA-C3D0-7EBA-1333E71F3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826" y="504176"/>
            <a:ext cx="2811879" cy="1807048"/>
          </a:xfrm>
        </p:spPr>
        <p:txBody>
          <a:bodyPr anchor="b">
            <a:normAutofit/>
          </a:bodyPr>
          <a:lstStyle/>
          <a:p>
            <a:r>
              <a:rPr lang="en-GB" sz="3600"/>
              <a:t>Implications of results</a:t>
            </a:r>
          </a:p>
        </p:txBody>
      </p:sp>
      <p:pic>
        <p:nvPicPr>
          <p:cNvPr id="5" name="Picture 4" descr="A close-up of a sound wave&#10;&#10;AI-generated content may be incorrect.">
            <a:extLst>
              <a:ext uri="{FF2B5EF4-FFF2-40B4-BE49-F238E27FC236}">
                <a16:creationId xmlns:a16="http://schemas.microsoft.com/office/drawing/2014/main" id="{2F961A4D-C420-4976-E9D8-E19E5DAAE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54"/>
          <a:stretch>
            <a:fillRect/>
          </a:stretch>
        </p:blipFill>
        <p:spPr>
          <a:xfrm>
            <a:off x="3762376" y="683018"/>
            <a:ext cx="8229580" cy="582064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8EF85-CBDB-A5CB-790D-7ED4D5AD7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28" y="2447749"/>
            <a:ext cx="2811880" cy="3409950"/>
          </a:xfrm>
        </p:spPr>
        <p:txBody>
          <a:bodyPr anchor="t">
            <a:normAutofit/>
          </a:bodyPr>
          <a:lstStyle/>
          <a:p>
            <a:r>
              <a:rPr lang="en-GB" dirty="0"/>
              <a:t>Machines interpret music</a:t>
            </a:r>
          </a:p>
          <a:p>
            <a:r>
              <a:rPr lang="en-GB" dirty="0"/>
              <a:t>Metadata is poor for genre predictions</a:t>
            </a:r>
          </a:p>
          <a:p>
            <a:r>
              <a:rPr lang="en-GB" dirty="0"/>
              <a:t>This could be done with more advanced ML (CNN)-Spectrogram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281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8AFD8-CA2B-BE2A-8F54-C4850EF6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6564" y="1249217"/>
            <a:ext cx="8298873" cy="22582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090B-809B-1E09-FC62-C9009089F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564" y="4490100"/>
            <a:ext cx="8298873" cy="12828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400" b="1" cap="all" spc="300"/>
              <a:t>Any questions?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10C1D6-7EDE-467F-89EA-E0244EB62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30240" y="4290504"/>
            <a:ext cx="73152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3044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D19FF40E22D34CB807112F71401222" ma:contentTypeVersion="5" ma:contentTypeDescription="Create a new document." ma:contentTypeScope="" ma:versionID="f4733957c0f65f5bfc2a83b4b5e7e642">
  <xsd:schema xmlns:xsd="http://www.w3.org/2001/XMLSchema" xmlns:xs="http://www.w3.org/2001/XMLSchema" xmlns:p="http://schemas.microsoft.com/office/2006/metadata/properties" xmlns:ns3="024314cc-9f70-47d1-a435-118dcddf60b3" targetNamespace="http://schemas.microsoft.com/office/2006/metadata/properties" ma:root="true" ma:fieldsID="7f629f4bbc8e536a4611254e69095f9b" ns3:_="">
    <xsd:import namespace="024314cc-9f70-47d1-a435-118dcddf60b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14cc-9f70-47d1-a435-118dcddf60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98831C1-B60B-42AA-9C8B-47DBE2982D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14cc-9f70-47d1-a435-118dcddf60b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FC0C97-F796-4456-AE8A-1D1CC4A504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9F5F01-3179-46B1-A4F5-11BC8CFF154A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024314cc-9f70-47d1-a435-118dcddf60b3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436</Words>
  <Application>Microsoft Office PowerPoint</Application>
  <PresentationFormat>Widescreen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Grandview Display</vt:lpstr>
      <vt:lpstr>DashVTI</vt:lpstr>
      <vt:lpstr>From Metadata to Music Genres: A Machine Learning Approach</vt:lpstr>
      <vt:lpstr>Machine Learning </vt:lpstr>
      <vt:lpstr>The project</vt:lpstr>
      <vt:lpstr>Why Genre Prediction Matters</vt:lpstr>
      <vt:lpstr>The data</vt:lpstr>
      <vt:lpstr>Which algorithm to use?</vt:lpstr>
      <vt:lpstr>The One vs Rest Model</vt:lpstr>
      <vt:lpstr>The Modles Statistics</vt:lpstr>
      <vt:lpstr>Implications of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Lightfoot, Brad (Student)</dc:creator>
  <cp:lastModifiedBy>Lightfoot, Brad (Student)</cp:lastModifiedBy>
  <cp:revision>4</cp:revision>
  <dcterms:created xsi:type="dcterms:W3CDTF">2025-06-01T13:02:56Z</dcterms:created>
  <dcterms:modified xsi:type="dcterms:W3CDTF">2025-06-02T10:44:27Z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0x01010074D19FF40E22D34CB807112F71401222</vt:lpwstr>
  </property>
</Properties>
</file>